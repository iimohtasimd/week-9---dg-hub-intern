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271345e-ed40-4442-c041-340680887c9b}">
          <p14:sldIdLst>
            <p14:sldId id="256"/>
          </p14:sldIdLst>
        </p14:section>
        <p14:section name="SOC fundamentals" id="{0c23b851-67cd-3cdf-e912-6efd54ac422e}">
          <p14:sldIdLst>
            <p14:sldId id="257"/>
            <p14:sldId id="258"/>
            <p14:sldId id="259"/>
          </p14:sldIdLst>
        </p14:section>
        <p14:section name="Lab build" id="{ecb88daa-f092-0508-1e17-010d41156511}">
          <p14:sldIdLst>
            <p14:sldId id="260"/>
            <p14:sldId id="261"/>
          </p14:sldIdLst>
        </p14:section>
        <p14:section name="Detection" id="{c25801fa-3539-c26d-6f1d-64177643d739}">
          <p14:sldIdLst>
            <p14:sldId id="262"/>
            <p14:sldId id="263"/>
          </p14:sldIdLst>
        </p14:section>
        <p14:section name="Wrap-up" id="{9c78e42c-60a0-8b78-06c9-f486cd9f9eef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9 report: SOC fundamentals plus a minimal Snort-based monitoring lab built on Kali Linux and Metasploitable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SOC as people, process and technology. Excellent tools without process produce noise; good process without visibility is guessing.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L1 triages, L2 investigates, L3 hunts and engineers detections.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what each one looks at and what it does about it. Snort here runs in IDS mode: it reports, it does not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Kali has a NAT adapter for updates plus a host-only adapter for the lab. Metasploitable has one host-only adapter and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mode parses the whole config and every rule, then exits. Run it after every rule edit, before going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live in /etc/snort/rules/local.rules so they survive package updates. Always re-run snort -T after editing.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Connectivity was confirmed before Snort ran so a missing alert could not be blamed on the network. Test traffic was a ping and a single front-page load: no exploitation.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pointing to the SIEM as the natural next layer: the sensor alert output is built so it can be shipped there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011680"/>
            <a:ext cx="76809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70332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DG Interns Hub  •  Week 9 SOC Introduction &amp; Setup  •  Md Mohtasim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DG INTERNS HUB  •  WEEK 9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01168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Introduction &amp; Setup</a:t>
            </a:r>
            <a:endParaRPr lang="en-US" sz="4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703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Building a basic monitoring environment with Kali Linux and Snort IDS</a:t>
            </a:r>
            <a:endParaRPr lang="en-US" sz="2000" dirty="0"/>
          </a:p>
        </p:txBody>
      </p:sp>
      <p:sp>
        <p:nvSpPr>
          <p:cNvPr id="5" name="Candidate line"/>
          <p:cNvSpPr txBox="1"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Md Mohtasim  •  DG/JULY/CYBER/017  •  07-10-2026</a:t>
            </a:r>
            <a:endParaRPr lang="en-US" sz="1600" dirty="0"/>
          </a:p>
        </p:txBody>
      </p:sp>
      <p:sp>
        <p:nvSpPr>
          <p:cNvPr id="6" name="Hero circle"/>
          <p:cNvSpPr/>
          <p:nvPr/>
        </p:nvSpPr>
        <p:spPr>
          <a:xfrm>
            <a:off x="8778240" y="1737360"/>
            <a:ext cx="2926080" cy="2926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6"/>
            </a:solidFill>
            <a:prstDash val="solid"/>
          </a:ln>
        </p:spPr>
      </p:sp>
      <p:pic>
        <p:nvPicPr>
          <p:cNvPr id="7" name="Shiel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423160"/>
            <a:ext cx="137160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SOC does</a:t>
            </a:r>
            <a:endParaRPr lang="en-US" sz="3400" dirty="0"/>
          </a:p>
        </p:txBody>
      </p:sp>
      <p:sp>
        <p:nvSpPr>
          <p:cNvPr id="3" name="Definition"/>
          <p:cNvSpPr txBox="1"/>
          <p:nvPr/>
        </p:nvSpPr>
        <p:spPr>
          <a:xfrm>
            <a:off x="548640" y="12344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Security Operations Center is the people, processes and technology that continuously monitor systems, detect security events, investigate them and coordinate the response.</a:t>
            </a:r>
            <a:endParaRPr lang="en-US" sz="1800" dirty="0"/>
          </a:p>
        </p:txBody>
      </p:sp>
      <p:sp>
        <p:nvSpPr>
          <p:cNvPr id="4" name="Card People"/>
          <p:cNvSpPr/>
          <p:nvPr/>
        </p:nvSpPr>
        <p:spPr>
          <a:xfrm>
            <a:off x="548640" y="219456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eople circle"/>
          <p:cNvSpPr/>
          <p:nvPr/>
        </p:nvSpPr>
        <p:spPr>
          <a:xfrm>
            <a:off x="822960" y="24231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Peopl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615184"/>
            <a:ext cx="301752" cy="301752"/>
          </a:xfrm>
          <a:prstGeom prst="rect">
            <a:avLst/>
          </a:prstGeom>
        </p:spPr>
      </p:pic>
      <p:sp>
        <p:nvSpPr>
          <p:cNvPr id="7" name="Text People"/>
          <p:cNvSpPr txBox="1"/>
          <p:nvPr/>
        </p:nvSpPr>
        <p:spPr>
          <a:xfrm>
            <a:off x="822960" y="3246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People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Make the judgement calls that software cannot.</a:t>
            </a:r>
            <a:endParaRPr lang="en-US" sz="2200" dirty="0"/>
          </a:p>
        </p:txBody>
      </p:sp>
      <p:sp>
        <p:nvSpPr>
          <p:cNvPr id="8" name="Card Process"/>
          <p:cNvSpPr/>
          <p:nvPr/>
        </p:nvSpPr>
        <p:spPr>
          <a:xfrm>
            <a:off x="4297680" y="219456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rocess circle"/>
          <p:cNvSpPr/>
          <p:nvPr/>
        </p:nvSpPr>
        <p:spPr>
          <a:xfrm>
            <a:off x="4572000" y="24231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Proces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615184"/>
            <a:ext cx="301752" cy="301752"/>
          </a:xfrm>
          <a:prstGeom prst="rect">
            <a:avLst/>
          </a:prstGeom>
        </p:spPr>
      </p:pic>
      <p:sp>
        <p:nvSpPr>
          <p:cNvPr id="11" name="Text Process"/>
          <p:cNvSpPr txBox="1"/>
          <p:nvPr/>
        </p:nvSpPr>
        <p:spPr>
          <a:xfrm>
            <a:off x="4572000" y="3246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Process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Playbooks and escalation paths make those calls consistent.</a:t>
            </a:r>
            <a:endParaRPr lang="en-US" sz="2200" dirty="0"/>
          </a:p>
        </p:txBody>
      </p:sp>
      <p:sp>
        <p:nvSpPr>
          <p:cNvPr id="12" name="Card Technology"/>
          <p:cNvSpPr/>
          <p:nvPr/>
        </p:nvSpPr>
        <p:spPr>
          <a:xfrm>
            <a:off x="8046720" y="219456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chnology circle"/>
          <p:cNvSpPr/>
          <p:nvPr/>
        </p:nvSpPr>
        <p:spPr>
          <a:xfrm>
            <a:off x="8321040" y="24231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Technolog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615184"/>
            <a:ext cx="301752" cy="301752"/>
          </a:xfrm>
          <a:prstGeom prst="rect">
            <a:avLst/>
          </a:prstGeom>
        </p:spPr>
      </p:pic>
      <p:sp>
        <p:nvSpPr>
          <p:cNvPr id="15" name="Text Technology"/>
          <p:cNvSpPr txBox="1"/>
          <p:nvPr/>
        </p:nvSpPr>
        <p:spPr>
          <a:xfrm>
            <a:off x="8321040" y="3246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Technology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Sensors, logs, correlation and ticketing supply the evidence.</a:t>
            </a:r>
            <a:endParaRPr lang="en-US" sz="2200" dirty="0"/>
          </a:p>
        </p:txBody>
      </p:sp>
      <p:sp>
        <p:nvSpPr>
          <p:cNvPr id="16" name="Loop label"/>
          <p:cNvSpPr txBox="1"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THE SOC LOOP</a:t>
            </a:r>
            <a:endParaRPr lang="en-US" sz="1200" dirty="0"/>
          </a:p>
        </p:txBody>
      </p:sp>
      <p:sp>
        <p:nvSpPr>
          <p:cNvPr id="17" name="Loop Monitoring"/>
          <p:cNvSpPr/>
          <p:nvPr/>
        </p:nvSpPr>
        <p:spPr>
          <a:xfrm>
            <a:off x="548640" y="5074920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Loop text Monitoring"/>
          <p:cNvSpPr txBox="1"/>
          <p:nvPr/>
        </p:nvSpPr>
        <p:spPr>
          <a:xfrm>
            <a:off x="548640" y="5074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Monitoring</a:t>
            </a:r>
            <a:endParaRPr lang="en-US" sz="1700" dirty="0"/>
          </a:p>
        </p:txBody>
      </p:sp>
      <p:sp>
        <p:nvSpPr>
          <p:cNvPr id="19" name="Loop Detection"/>
          <p:cNvSpPr/>
          <p:nvPr/>
        </p:nvSpPr>
        <p:spPr>
          <a:xfrm>
            <a:off x="2811780" y="5074920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Loop text Detection"/>
          <p:cNvSpPr txBox="1"/>
          <p:nvPr/>
        </p:nvSpPr>
        <p:spPr>
          <a:xfrm>
            <a:off x="2811780" y="5074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Detection</a:t>
            </a:r>
            <a:endParaRPr lang="en-US" sz="1700" dirty="0"/>
          </a:p>
        </p:txBody>
      </p:sp>
      <p:sp>
        <p:nvSpPr>
          <p:cNvPr id="21" name="Loop Triage"/>
          <p:cNvSpPr/>
          <p:nvPr/>
        </p:nvSpPr>
        <p:spPr>
          <a:xfrm>
            <a:off x="5074920" y="5074920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Loop text Triage"/>
          <p:cNvSpPr txBox="1"/>
          <p:nvPr/>
        </p:nvSpPr>
        <p:spPr>
          <a:xfrm>
            <a:off x="5074920" y="5074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Triage</a:t>
            </a:r>
            <a:endParaRPr lang="en-US" sz="1700" dirty="0"/>
          </a:p>
        </p:txBody>
      </p:sp>
      <p:sp>
        <p:nvSpPr>
          <p:cNvPr id="23" name="Loop Response"/>
          <p:cNvSpPr/>
          <p:nvPr/>
        </p:nvSpPr>
        <p:spPr>
          <a:xfrm>
            <a:off x="7338060" y="5074920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Loop text Response"/>
          <p:cNvSpPr txBox="1"/>
          <p:nvPr/>
        </p:nvSpPr>
        <p:spPr>
          <a:xfrm>
            <a:off x="7338060" y="5074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Response</a:t>
            </a:r>
            <a:endParaRPr lang="en-US" sz="1700" dirty="0"/>
          </a:p>
        </p:txBody>
      </p:sp>
      <p:sp>
        <p:nvSpPr>
          <p:cNvPr id="25" name="Loop Improvement"/>
          <p:cNvSpPr/>
          <p:nvPr/>
        </p:nvSpPr>
        <p:spPr>
          <a:xfrm>
            <a:off x="9601200" y="5074920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Loop text Improvement"/>
          <p:cNvSpPr txBox="1"/>
          <p:nvPr/>
        </p:nvSpPr>
        <p:spPr>
          <a:xfrm>
            <a:off x="9601200" y="5074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Improvement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 tiers: L1, L2, L3</a:t>
            </a:r>
            <a:endParaRPr lang="en-US" sz="3400" dirty="0"/>
          </a:p>
        </p:txBody>
      </p:sp>
      <p:sp>
        <p:nvSpPr>
          <p:cNvPr id="3" name="Card L1"/>
          <p:cNvSpPr/>
          <p:nvPr/>
        </p:nvSpPr>
        <p:spPr>
          <a:xfrm>
            <a:off x="548640" y="1325880"/>
            <a:ext cx="3566160" cy="43434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L1"/>
          <p:cNvSpPr/>
          <p:nvPr/>
        </p:nvSpPr>
        <p:spPr>
          <a:xfrm>
            <a:off x="822960" y="15544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text L1"/>
          <p:cNvSpPr txBox="1"/>
          <p:nvPr/>
        </p:nvSpPr>
        <p:spPr>
          <a:xfrm>
            <a:off x="822960" y="1554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2400" dirty="0"/>
          </a:p>
        </p:txBody>
      </p:sp>
      <p:sp>
        <p:nvSpPr>
          <p:cNvPr id="6" name="Role L1"/>
          <p:cNvSpPr txBox="1"/>
          <p:nvPr/>
        </p:nvSpPr>
        <p:spPr>
          <a:xfrm>
            <a:off x="1874520" y="1554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Triage</a:t>
            </a:r>
            <a:endParaRPr lang="en-US" sz="2000" dirty="0"/>
          </a:p>
        </p:txBody>
      </p:sp>
      <p:sp>
        <p:nvSpPr>
          <p:cNvPr id="7" name="Details L1"/>
          <p:cNvSpPr txBox="1"/>
          <p:nvPr/>
        </p:nvSpPr>
        <p:spPr>
          <a:xfrm>
            <a:off x="822960" y="269748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MAIN JOB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First look at every alert in the queue.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TYPICAL WORK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Check against known-benign patterns, gather context, close false positives, open tickets.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ESCALATES WHEN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alert looks genuine or cannot be explained.</a:t>
            </a:r>
            <a:endParaRPr lang="en-US" sz="1200" dirty="0"/>
          </a:p>
        </p:txBody>
      </p:sp>
      <p:sp>
        <p:nvSpPr>
          <p:cNvPr id="8" name="Card L2"/>
          <p:cNvSpPr/>
          <p:nvPr/>
        </p:nvSpPr>
        <p:spPr>
          <a:xfrm>
            <a:off x="4297680" y="1325880"/>
            <a:ext cx="3566160" cy="43434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 L2"/>
          <p:cNvSpPr/>
          <p:nvPr/>
        </p:nvSpPr>
        <p:spPr>
          <a:xfrm>
            <a:off x="4572000" y="1554480"/>
            <a:ext cx="868680" cy="8686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Badge text L2"/>
          <p:cNvSpPr txBox="1"/>
          <p:nvPr/>
        </p:nvSpPr>
        <p:spPr>
          <a:xfrm>
            <a:off x="4572000" y="1554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2400" dirty="0"/>
          </a:p>
        </p:txBody>
      </p:sp>
      <p:sp>
        <p:nvSpPr>
          <p:cNvPr id="11" name="Role L2"/>
          <p:cNvSpPr txBox="1"/>
          <p:nvPr/>
        </p:nvSpPr>
        <p:spPr>
          <a:xfrm>
            <a:off x="5623560" y="1554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Incident responder</a:t>
            </a:r>
            <a:endParaRPr lang="en-US" sz="2000" dirty="0"/>
          </a:p>
        </p:txBody>
      </p:sp>
      <p:sp>
        <p:nvSpPr>
          <p:cNvPr id="12" name="Details L2"/>
          <p:cNvSpPr txBox="1"/>
          <p:nvPr/>
        </p:nvSpPr>
        <p:spPr>
          <a:xfrm>
            <a:off x="4572000" y="269748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MAIN JOB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Deeper investigation of likely incidents.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TYPICAL WORK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Correlate logs, scope affected hosts, recommend containment, tune noisy rules.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ESCALATES WHEN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incident is large, novel or needs specialist analysis.</a:t>
            </a:r>
            <a:endParaRPr lang="en-US" sz="1200" dirty="0"/>
          </a:p>
        </p:txBody>
      </p:sp>
      <p:sp>
        <p:nvSpPr>
          <p:cNvPr id="13" name="Card L3"/>
          <p:cNvSpPr/>
          <p:nvPr/>
        </p:nvSpPr>
        <p:spPr>
          <a:xfrm>
            <a:off x="8046720" y="1325880"/>
            <a:ext cx="3566160" cy="43434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L3"/>
          <p:cNvSpPr/>
          <p:nvPr/>
        </p:nvSpPr>
        <p:spPr>
          <a:xfrm>
            <a:off x="8321040" y="1554480"/>
            <a:ext cx="868680" cy="8686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Badge text L3"/>
          <p:cNvSpPr txBox="1"/>
          <p:nvPr/>
        </p:nvSpPr>
        <p:spPr>
          <a:xfrm>
            <a:off x="8321040" y="1554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2400" dirty="0"/>
          </a:p>
        </p:txBody>
      </p:sp>
      <p:sp>
        <p:nvSpPr>
          <p:cNvPr id="16" name="Role L3"/>
          <p:cNvSpPr txBox="1"/>
          <p:nvPr/>
        </p:nvSpPr>
        <p:spPr>
          <a:xfrm>
            <a:off x="9372600" y="1554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Senior / hunter</a:t>
            </a:r>
            <a:endParaRPr lang="en-US" sz="2000" dirty="0"/>
          </a:p>
        </p:txBody>
      </p:sp>
      <p:sp>
        <p:nvSpPr>
          <p:cNvPr id="17" name="Details L3"/>
          <p:cNvSpPr txBox="1"/>
          <p:nvPr/>
        </p:nvSpPr>
        <p:spPr>
          <a:xfrm>
            <a:off x="8321040" y="269748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MAIN JOB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Advanced, proactive work.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TYPICAL WORK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Threat hunting, malware and forensics, detection engineering, post-incident review.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ESCALATES WHEN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Seldom. Owns the hardest cases and detection quality.</a:t>
            </a:r>
            <a:endParaRPr lang="en-US" sz="1200" dirty="0"/>
          </a:p>
        </p:txBody>
      </p:sp>
      <p:sp>
        <p:nvSpPr>
          <p:cNvPr id="18" name="Tier note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Tiers are a workflow, not a ranking of worth: fast, clear L1 triage frees L2 and L3 for the work that needs them.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IDS, IPS and SIEM compared</a:t>
            </a:r>
            <a:endParaRPr lang="en-US" sz="3400" dirty="0"/>
          </a:p>
        </p:txBody>
      </p:sp>
      <p:graphicFrame>
        <p:nvGraphicFramePr>
          <p:cNvPr id="5" name="IDS IPS SIE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63240"/>
                <a:gridCol w="306324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IDS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IPS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SIEM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04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404F"/>
                          </a:solidFill>
                        </a:rPr>
                        <a:t>Full name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Intrusion Detection System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Intrusion Prevention System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Security Information &amp; Event Management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404F"/>
                          </a:solidFill>
                        </a:rPr>
                        <a:t>Primary job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Detect suspicious activity and alert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Detect it and block it automatically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Collect, normalise and correlate logs from many sources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404F"/>
                          </a:solidFill>
                        </a:rPr>
                        <a:t>Placement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Passive: watches a copy of traffic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Inline: traffic must pass through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Central: receives logs from sensors, servers, firewalls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404F"/>
                          </a:solidFill>
                        </a:rPr>
                        <a:t>Risk if it errs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Missed detection goes unnoticed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False positive can block legitimate traffic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Poor coverage creates blind spots or noise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404F"/>
                          </a:solidFill>
                        </a:rPr>
                        <a:t>Example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Snort or Suricata, alert-only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Snort or Suricata, inline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Splunk, Elastic Security, Wazuh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keaway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akeaway text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IDS and IPS are the sensors; the SIEM is the memory and the brain.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This lab builds the sensor only.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design: two machines, one isolated network</a:t>
            </a:r>
            <a:endParaRPr lang="en-US" sz="3400" dirty="0"/>
          </a:p>
        </p:txBody>
      </p:sp>
      <p:sp>
        <p:nvSpPr>
          <p:cNvPr id="3" name="Link left"/>
          <p:cNvSpPr/>
          <p:nvPr/>
        </p:nvSpPr>
        <p:spPr>
          <a:xfrm>
            <a:off x="3657600" y="2331720"/>
            <a:ext cx="86868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4" name="Link right"/>
          <p:cNvSpPr/>
          <p:nvPr/>
        </p:nvSpPr>
        <p:spPr>
          <a:xfrm>
            <a:off x="7680960" y="2331720"/>
            <a:ext cx="82296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5" name="Kali box"/>
          <p:cNvSpPr/>
          <p:nvPr/>
        </p:nvSpPr>
        <p:spPr>
          <a:xfrm>
            <a:off x="548640" y="1371600"/>
            <a:ext cx="310896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Kali circle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Kali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708099"/>
            <a:ext cx="241402" cy="241402"/>
          </a:xfrm>
          <a:prstGeom prst="rect">
            <a:avLst/>
          </a:prstGeom>
        </p:spPr>
      </p:pic>
      <p:sp>
        <p:nvSpPr>
          <p:cNvPr id="8" name="Kali text"/>
          <p:cNvSpPr txBox="1"/>
          <p:nvPr/>
        </p:nvSpPr>
        <p:spPr>
          <a:xfrm>
            <a:off x="777240" y="21945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Kali Linux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Traffic source + Snort sensor</a:t>
            </a:r>
            <a:endParaRPr lang="en-US" sz="2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192.168.56.1</a:t>
            </a:r>
            <a:endParaRPr lang="en-US" sz="2000" dirty="0"/>
          </a:p>
        </p:txBody>
      </p:sp>
      <p:sp>
        <p:nvSpPr>
          <p:cNvPr id="9" name="Network pill"/>
          <p:cNvSpPr/>
          <p:nvPr/>
        </p:nvSpPr>
        <p:spPr>
          <a:xfrm>
            <a:off x="4526280" y="1783080"/>
            <a:ext cx="3154680" cy="109728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0" name="Network text"/>
          <p:cNvSpPr txBox="1"/>
          <p:nvPr/>
        </p:nvSpPr>
        <p:spPr>
          <a:xfrm>
            <a:off x="4526280" y="17830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Host-only network</a:t>
            </a:r>
            <a:endParaRPr lang="en-US" sz="17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192.168.56.0/24</a:t>
            </a:r>
            <a:endParaRPr lang="en-US" sz="1700" dirty="0"/>
          </a:p>
        </p:txBody>
      </p:sp>
      <p:sp>
        <p:nvSpPr>
          <p:cNvPr id="11" name="Target box"/>
          <p:cNvSpPr/>
          <p:nvPr/>
        </p:nvSpPr>
        <p:spPr>
          <a:xfrm>
            <a:off x="8503920" y="1371600"/>
            <a:ext cx="310896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arget circle"/>
          <p:cNvSpPr/>
          <p:nvPr/>
        </p:nvSpPr>
        <p:spPr>
          <a:xfrm>
            <a:off x="8732520" y="15544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Targe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6139" y="1708099"/>
            <a:ext cx="241402" cy="241402"/>
          </a:xfrm>
          <a:prstGeom prst="rect">
            <a:avLst/>
          </a:prstGeom>
        </p:spPr>
      </p:pic>
      <p:sp>
        <p:nvSpPr>
          <p:cNvPr id="14" name="Target text"/>
          <p:cNvSpPr txBox="1"/>
          <p:nvPr/>
        </p:nvSpPr>
        <p:spPr>
          <a:xfrm>
            <a:off x="8732520" y="21945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Metasploitable 2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Target running Apache web server</a:t>
            </a:r>
            <a:endParaRPr lang="en-US" sz="2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192.168.56.102</a:t>
            </a:r>
            <a:endParaRPr lang="en-US" sz="2000" dirty="0"/>
          </a:p>
        </p:txBody>
      </p:sp>
      <p:sp>
        <p:nvSpPr>
          <p:cNvPr id="15" name="Info 1"/>
          <p:cNvSpPr/>
          <p:nvPr/>
        </p:nvSpPr>
        <p:spPr>
          <a:xfrm>
            <a:off x="548640" y="370332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nfo text 1"/>
          <p:cNvSpPr txBox="1"/>
          <p:nvPr/>
        </p:nvSpPr>
        <p:spPr>
          <a:xfrm>
            <a:off x="822960" y="39319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Why Snort sees everything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Kali sends the test traffic and runs Snort, so it sees every packet out and every reply back. Only the host-only interface is monitored.</a:t>
            </a:r>
            <a:endParaRPr lang="en-US" sz="2000" dirty="0"/>
          </a:p>
        </p:txBody>
      </p:sp>
      <p:sp>
        <p:nvSpPr>
          <p:cNvPr id="17" name="Info 2"/>
          <p:cNvSpPr/>
          <p:nvPr/>
        </p:nvSpPr>
        <p:spPr>
          <a:xfrm>
            <a:off x="4297680" y="370332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nfo text 2"/>
          <p:cNvSpPr txBox="1"/>
          <p:nvPr/>
        </p:nvSpPr>
        <p:spPr>
          <a:xfrm>
            <a:off x="4572000" y="39319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Isolation of the target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Metasploitable is intentionally vulnerable. It lives on the host-only network only: never NAT, never bridged.</a:t>
            </a:r>
            <a:endParaRPr lang="en-US" sz="2000" dirty="0"/>
          </a:p>
        </p:txBody>
      </p:sp>
      <p:sp>
        <p:nvSpPr>
          <p:cNvPr id="19" name="Info 3"/>
          <p:cNvSpPr/>
          <p:nvPr/>
        </p:nvSpPr>
        <p:spPr>
          <a:xfrm>
            <a:off x="8046720" y="370332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nfo text 3"/>
          <p:cNvSpPr txBox="1"/>
          <p:nvPr/>
        </p:nvSpPr>
        <p:spPr>
          <a:xfrm>
            <a:off x="8321040" y="39319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Ubuntu Server substitute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Kali (Debian-based, same apt and Snort layout) replaced Ubuntu Server. The trade-off: one machine plays both roles.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steps: environment and Snort</a:t>
            </a:r>
            <a:endParaRPr lang="en-US" sz="3400" dirty="0"/>
          </a:p>
        </p:txBody>
      </p:sp>
      <p:sp>
        <p:nvSpPr>
          <p:cNvPr id="3" name="Step 1"/>
          <p:cNvSpPr/>
          <p:nvPr/>
        </p:nvSpPr>
        <p:spPr>
          <a:xfrm>
            <a:off x="548640" y="1325880"/>
            <a:ext cx="2103120" cy="25146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number circle 1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7772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tep text 1"/>
          <p:cNvSpPr txBox="1"/>
          <p:nvPr/>
        </p:nvSpPr>
        <p:spPr>
          <a:xfrm>
            <a:off x="777240" y="219456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Update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apt update and full-upgrade on Kali</a:t>
            </a:r>
            <a:endParaRPr lang="en-US" sz="1800" dirty="0"/>
          </a:p>
        </p:txBody>
      </p:sp>
      <p:sp>
        <p:nvSpPr>
          <p:cNvPr id="7" name="Step 2"/>
          <p:cNvSpPr/>
          <p:nvPr/>
        </p:nvSpPr>
        <p:spPr>
          <a:xfrm>
            <a:off x="2788920" y="1325880"/>
            <a:ext cx="2103120" cy="25146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ep number circle 2"/>
          <p:cNvSpPr/>
          <p:nvPr/>
        </p:nvSpPr>
        <p:spPr>
          <a:xfrm>
            <a:off x="3017520" y="1508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number 2"/>
          <p:cNvSpPr txBox="1"/>
          <p:nvPr/>
        </p:nvSpPr>
        <p:spPr>
          <a:xfrm>
            <a:off x="30175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tep text 2"/>
          <p:cNvSpPr txBox="1"/>
          <p:nvPr/>
        </p:nvSpPr>
        <p:spPr>
          <a:xfrm>
            <a:off x="3017520" y="219456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Hostname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Renamed to soc-kali01 with hostnamectl</a:t>
            </a:r>
            <a:endParaRPr lang="en-US" sz="1800" dirty="0"/>
          </a:p>
        </p:txBody>
      </p:sp>
      <p:sp>
        <p:nvSpPr>
          <p:cNvPr id="11" name="Step 3"/>
          <p:cNvSpPr/>
          <p:nvPr/>
        </p:nvSpPr>
        <p:spPr>
          <a:xfrm>
            <a:off x="5029200" y="1325880"/>
            <a:ext cx="2103120" cy="25146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ep number circle 3"/>
          <p:cNvSpPr/>
          <p:nvPr/>
        </p:nvSpPr>
        <p:spPr>
          <a:xfrm>
            <a:off x="5257800" y="1508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tep number 3"/>
          <p:cNvSpPr txBox="1"/>
          <p:nvPr/>
        </p:nvSpPr>
        <p:spPr>
          <a:xfrm>
            <a:off x="5257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tep text 3"/>
          <p:cNvSpPr txBox="1"/>
          <p:nvPr/>
        </p:nvSpPr>
        <p:spPr>
          <a:xfrm>
            <a:off x="5257800" y="219456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Network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Host-only vboxnet0 at 192.168.56.1</a:t>
            </a:r>
            <a:endParaRPr lang="en-US" sz="1800" dirty="0"/>
          </a:p>
        </p:txBody>
      </p:sp>
      <p:sp>
        <p:nvSpPr>
          <p:cNvPr id="15" name="Step 4"/>
          <p:cNvSpPr/>
          <p:nvPr/>
        </p:nvSpPr>
        <p:spPr>
          <a:xfrm>
            <a:off x="7269480" y="1325880"/>
            <a:ext cx="2103120" cy="25146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number circle 4"/>
          <p:cNvSpPr/>
          <p:nvPr/>
        </p:nvSpPr>
        <p:spPr>
          <a:xfrm>
            <a:off x="7498080" y="1508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 number 4"/>
          <p:cNvSpPr txBox="1"/>
          <p:nvPr/>
        </p:nvSpPr>
        <p:spPr>
          <a:xfrm>
            <a:off x="7498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Step text 4"/>
          <p:cNvSpPr txBox="1"/>
          <p:nvPr/>
        </p:nvSpPr>
        <p:spPr>
          <a:xfrm>
            <a:off x="7498080" y="219456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Target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Metasploitable 2 from its .vmdk, host-only adapter, 512 MB</a:t>
            </a:r>
            <a:endParaRPr lang="en-US" sz="1800" dirty="0"/>
          </a:p>
        </p:txBody>
      </p:sp>
      <p:sp>
        <p:nvSpPr>
          <p:cNvPr id="19" name="Step 5"/>
          <p:cNvSpPr/>
          <p:nvPr/>
        </p:nvSpPr>
        <p:spPr>
          <a:xfrm>
            <a:off x="9509760" y="1325880"/>
            <a:ext cx="2103120" cy="25146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ep number circle 5"/>
          <p:cNvSpPr/>
          <p:nvPr/>
        </p:nvSpPr>
        <p:spPr>
          <a:xfrm>
            <a:off x="9738360" y="1508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tep number 5"/>
          <p:cNvSpPr txBox="1"/>
          <p:nvPr/>
        </p:nvSpPr>
        <p:spPr>
          <a:xfrm>
            <a:off x="97383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Step text 5"/>
          <p:cNvSpPr txBox="1"/>
          <p:nvPr/>
        </p:nvSpPr>
        <p:spPr>
          <a:xfrm>
            <a:off x="9738360" y="219456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Verify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Ping 4/4 replies; curl returns HTTP 200 OK</a:t>
            </a:r>
            <a:endParaRPr lang="en-US" sz="1800" dirty="0"/>
          </a:p>
        </p:txBody>
      </p:sp>
      <p:sp>
        <p:nvSpPr>
          <p:cNvPr id="23" name="Snort panel"/>
          <p:cNvSpPr/>
          <p:nvPr/>
        </p:nvSpPr>
        <p:spPr>
          <a:xfrm>
            <a:off x="548640" y="4114800"/>
            <a:ext cx="694944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Snort panel title"/>
          <p:cNvSpPr txBox="1"/>
          <p:nvPr/>
        </p:nvSpPr>
        <p:spPr>
          <a:xfrm>
            <a:off x="82296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Install and validate Snort</a:t>
            </a:r>
            <a:endParaRPr lang="en-US" sz="1800" dirty="0"/>
          </a:p>
        </p:txBody>
      </p:sp>
      <p:sp>
        <p:nvSpPr>
          <p:cNvPr id="25" name="Snort commands"/>
          <p:cNvSpPr txBox="1"/>
          <p:nvPr/>
        </p:nvSpPr>
        <p:spPr>
          <a:xfrm>
            <a:off x="822960" y="48006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snort -y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snort -V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snort -T -c /etc/snort/snort.conf -i eth1</a:t>
            </a:r>
            <a:endParaRPr lang="en-US" sz="1500" dirty="0"/>
          </a:p>
        </p:txBody>
      </p:sp>
      <p:sp>
        <p:nvSpPr>
          <p:cNvPr id="26" name="Stat version"/>
          <p:cNvSpPr/>
          <p:nvPr/>
        </p:nvSpPr>
        <p:spPr>
          <a:xfrm>
            <a:off x="7726680" y="4114800"/>
            <a:ext cx="1920240" cy="2057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Stat version text"/>
          <p:cNvSpPr txBox="1"/>
          <p:nvPr/>
        </p:nvSpPr>
        <p:spPr>
          <a:xfrm>
            <a:off x="7909560" y="438912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3.12.2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Snort++ version installed</a:t>
            </a:r>
            <a:endParaRPr lang="en-US" sz="3200" dirty="0"/>
          </a:p>
        </p:txBody>
      </p:sp>
      <p:sp>
        <p:nvSpPr>
          <p:cNvPr id="28" name="Stat warnings"/>
          <p:cNvSpPr/>
          <p:nvPr/>
        </p:nvSpPr>
        <p:spPr>
          <a:xfrm>
            <a:off x="9784080" y="4114800"/>
            <a:ext cx="1828800" cy="2057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tat warnings text"/>
          <p:cNvSpPr txBox="1"/>
          <p:nvPr/>
        </p:nvSpPr>
        <p:spPr>
          <a:xfrm>
            <a:off x="9966960" y="429768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warnings in test mode (-T)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custom Snort rules</a:t>
            </a:r>
            <a:endParaRPr lang="en-US" sz="3400" dirty="0"/>
          </a:p>
        </p:txBody>
      </p:sp>
      <p:sp>
        <p:nvSpPr>
          <p:cNvPr id="3" name="Anatomy bar"/>
          <p:cNvSpPr/>
          <p:nvPr/>
        </p:nvSpPr>
        <p:spPr>
          <a:xfrm>
            <a:off x="548640" y="1280160"/>
            <a:ext cx="1106424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natomy text"/>
          <p:cNvSpPr txBox="1"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 proto  src_ip  src_port  -&gt;  dst_ip  dst_port  (options)</a:t>
            </a:r>
            <a:endParaRPr lang="en-US" sz="1500" dirty="0"/>
          </a:p>
        </p:txBody>
      </p:sp>
      <p:sp>
        <p:nvSpPr>
          <p:cNvPr id="5" name="Code card 1"/>
          <p:cNvSpPr/>
          <p:nvPr/>
        </p:nvSpPr>
        <p:spPr>
          <a:xfrm>
            <a:off x="548640" y="2011680"/>
            <a:ext cx="5440680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Rule title 1"/>
          <p:cNvSpPr txBox="1"/>
          <p:nvPr/>
        </p:nvSpPr>
        <p:spPr>
          <a:xfrm>
            <a:off x="82296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Rule 1: ICMP echo request (ping)</a:t>
            </a:r>
            <a:endParaRPr lang="en-US" sz="1600" dirty="0"/>
          </a:p>
        </p:txBody>
      </p:sp>
      <p:sp>
        <p:nvSpPr>
          <p:cNvPr id="7" name="Rule code 1"/>
          <p:cNvSpPr txBox="1"/>
          <p:nvPr/>
        </p:nvSpPr>
        <p:spPr>
          <a:xfrm>
            <a:off x="822960" y="26060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icmp any any -&gt; $HOME_NET any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(msg:"LAB-ICMP Echo request (ping) detected";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itype:8; classtype:misc-activity;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sid:1000001; rev:1;)</a:t>
            </a:r>
            <a:endParaRPr lang="en-US" sz="1300" dirty="0"/>
          </a:p>
        </p:txBody>
      </p:sp>
      <p:sp>
        <p:nvSpPr>
          <p:cNvPr id="8" name="Rule notes 1"/>
          <p:cNvSpPr txBox="1"/>
          <p:nvPr/>
        </p:nvSpPr>
        <p:spPr>
          <a:xfrm>
            <a:off x="640080" y="4754880"/>
            <a:ext cx="5257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Alerts on echo requests (itype:8) into HOME_NET; replies (type 0) are not counted.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burst across many hosts signals a ping sweep, so production use needs a threshold.</a:t>
            </a:r>
            <a:endParaRPr lang="en-US" sz="1400" dirty="0"/>
          </a:p>
        </p:txBody>
      </p:sp>
      <p:sp>
        <p:nvSpPr>
          <p:cNvPr id="9" name="Code card 2"/>
          <p:cNvSpPr/>
          <p:nvPr/>
        </p:nvSpPr>
        <p:spPr>
          <a:xfrm>
            <a:off x="6172200" y="2011680"/>
            <a:ext cx="5440680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Rule title 2"/>
          <p:cNvSpPr txBox="1"/>
          <p:nvPr/>
        </p:nvSpPr>
        <p:spPr>
          <a:xfrm>
            <a:off x="644652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Rule 2: HTTP GET request</a:t>
            </a:r>
            <a:endParaRPr lang="en-US" sz="1600" dirty="0"/>
          </a:p>
        </p:txBody>
      </p:sp>
      <p:sp>
        <p:nvSpPr>
          <p:cNvPr id="11" name="Rule code 2"/>
          <p:cNvSpPr txBox="1"/>
          <p:nvPr/>
        </p:nvSpPr>
        <p:spPr>
          <a:xfrm>
            <a:off x="6446520" y="26060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tcp any any -&gt; $HOME_NET 80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(msg:"LAB-HTTP GET request to web server";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flow:to_server,established;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content:"GET "; depth:4;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classtype:web-application-activity;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sid:1000002; rev:1;)</a:t>
            </a:r>
            <a:endParaRPr lang="en-US" sz="1300" dirty="0"/>
          </a:p>
        </p:txBody>
      </p:sp>
      <p:sp>
        <p:nvSpPr>
          <p:cNvPr id="12" name="Rule notes 2"/>
          <p:cNvSpPr txBox="1"/>
          <p:nvPr/>
        </p:nvSpPr>
        <p:spPr>
          <a:xfrm>
            <a:off x="6263640" y="4754880"/>
            <a:ext cx="5257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Matches client-to-server TCP on port 80 whose payload starts with "GET ".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Raw-payload matching is portable but less precise than the HTTP preprocessor.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alert capture</a:t>
            </a:r>
            <a:endParaRPr lang="en-US" sz="3400" dirty="0"/>
          </a:p>
        </p:txBody>
      </p:sp>
      <p:graphicFrame>
        <p:nvGraphicFramePr>
          <p:cNvPr id="9" name="Test pla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4066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3657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Traffic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Command / action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04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B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ICMP echo request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ping -c 4 192.168.56.102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B33"/>
                          </a:solidFill>
                        </a:rPr>
                        <a:t>1000001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B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HTTP GET request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Open http://192.168.56.102 in Firefox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B33"/>
                          </a:solidFill>
                        </a:rPr>
                        <a:t>1000002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B33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Control: no traffic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33"/>
                          </a:solidFill>
                        </a:rPr>
                        <a:t>Leave Snort idle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B33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Run command"/>
          <p:cNvSpPr/>
          <p:nvPr/>
        </p:nvSpPr>
        <p:spPr>
          <a:xfrm>
            <a:off x="548640" y="3840480"/>
            <a:ext cx="74066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Run command text"/>
          <p:cNvSpPr txBox="1"/>
          <p:nvPr/>
        </p:nvSpPr>
        <p:spPr>
          <a:xfrm>
            <a:off x="822960" y="39319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Sensor started in console mode: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snort -A console -q -k none -c /etc/snort/snort.conf -i eth1</a:t>
            </a:r>
            <a:endParaRPr lang="en-US" sz="1200" dirty="0"/>
          </a:p>
        </p:txBody>
      </p:sp>
      <p:sp>
        <p:nvSpPr>
          <p:cNvPr id="6" name="Control note"/>
          <p:cNvSpPr/>
          <p:nvPr/>
        </p:nvSpPr>
        <p:spPr>
          <a:xfrm>
            <a:off x="548640" y="4937760"/>
            <a:ext cx="74066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ontrol note text"/>
          <p:cNvSpPr txBox="1"/>
          <p:nvPr/>
        </p:nvSpPr>
        <p:spPr>
          <a:xfrm>
            <a:off x="822960" y="507492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Why a control test?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Snort stays quiet while idle, the alerts in tests 1 and 2 mean something.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-k none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skips checksum checks so same-host traffic is not silently ignored.</a:t>
            </a:r>
            <a:endParaRPr lang="en-US" sz="1400" dirty="0"/>
          </a:p>
        </p:txBody>
      </p:sp>
      <p:sp>
        <p:nvSpPr>
          <p:cNvPr id="8" name="Stat ping"/>
          <p:cNvSpPr/>
          <p:nvPr/>
        </p:nvSpPr>
        <p:spPr>
          <a:xfrm>
            <a:off x="8229600" y="1325880"/>
            <a:ext cx="33832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t ping text"/>
          <p:cNvSpPr txBox="1"/>
          <p:nvPr/>
        </p:nvSpPr>
        <p:spPr>
          <a:xfrm>
            <a:off x="8503920" y="155448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echo replies, 0% packet loss in the pre-check</a:t>
            </a:r>
            <a:endParaRPr lang="en-US" sz="4400" dirty="0"/>
          </a:p>
        </p:txBody>
      </p:sp>
      <p:sp>
        <p:nvSpPr>
          <p:cNvPr id="10" name="Stat http"/>
          <p:cNvSpPr/>
          <p:nvPr/>
        </p:nvSpPr>
        <p:spPr>
          <a:xfrm>
            <a:off x="8229600" y="3840480"/>
            <a:ext cx="338328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at http text"/>
          <p:cNvSpPr txBox="1"/>
          <p:nvPr/>
        </p:nvSpPr>
        <p:spPr>
          <a:xfrm>
            <a:off x="8503920" y="406908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OK</a:t>
            </a:r>
            <a:endParaRPr lang="en-US" sz="3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Apache/2.2.8 answers on port 80, so the HTTP test has a target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400" dirty="0"/>
          </a:p>
        </p:txBody>
      </p:sp>
      <p:sp>
        <p:nvSpPr>
          <p:cNvPr id="3" name="Column Limitations"/>
          <p:cNvSpPr/>
          <p:nvPr/>
        </p:nvSpPr>
        <p:spPr>
          <a:xfrm>
            <a:off x="548640" y="1325880"/>
            <a:ext cx="5394960" cy="3840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mitations circle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Limita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1733702"/>
            <a:ext cx="281635" cy="281635"/>
          </a:xfrm>
          <a:prstGeom prst="rect">
            <a:avLst/>
          </a:prstGeom>
        </p:spPr>
      </p:pic>
      <p:sp>
        <p:nvSpPr>
          <p:cNvPr id="6" name="Column title Limitations"/>
          <p:cNvSpPr txBox="1"/>
          <p:nvPr/>
        </p:nvSpPr>
        <p:spPr>
          <a:xfrm>
            <a:off x="1645920" y="1554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7" name="Column list Limitations"/>
          <p:cNvSpPr txBox="1"/>
          <p:nvPr/>
        </p:nvSpPr>
        <p:spPr>
          <a:xfrm>
            <a:off x="822960" y="242316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Kali is both traffic source and sensor, so there is no independent sensor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Kali stands in for Ubuntu Server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Small, deliberate test sample: no false-positive claims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HTTP rule uses raw payload, less precise than the HTTP preprocessor</a:t>
            </a:r>
            <a:endParaRPr lang="en-US" sz="1800" dirty="0"/>
          </a:p>
        </p:txBody>
      </p:sp>
      <p:sp>
        <p:nvSpPr>
          <p:cNvPr id="8" name="Column Next steps"/>
          <p:cNvSpPr/>
          <p:nvPr/>
        </p:nvSpPr>
        <p:spPr>
          <a:xfrm>
            <a:off x="6217920" y="1325880"/>
            <a:ext cx="5394960" cy="3840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ext steps circle"/>
          <p:cNvSpPr/>
          <p:nvPr/>
        </p:nvSpPr>
        <p:spPr>
          <a:xfrm>
            <a:off x="6492240" y="15544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Next step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462" y="1733702"/>
            <a:ext cx="281635" cy="281635"/>
          </a:xfrm>
          <a:prstGeom prst="rect">
            <a:avLst/>
          </a:prstGeom>
        </p:spPr>
      </p:pic>
      <p:sp>
        <p:nvSpPr>
          <p:cNvPr id="11" name="Column title Next steps"/>
          <p:cNvSpPr txBox="1"/>
          <p:nvPr/>
        </p:nvSpPr>
        <p:spPr>
          <a:xfrm>
            <a:off x="7315200" y="1554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12" name="Column list Next steps"/>
          <p:cNvSpPr txBox="1"/>
          <p:nvPr/>
        </p:nvSpPr>
        <p:spPr>
          <a:xfrm>
            <a:off x="6492240" y="242316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Move Snort onto its own dedicated machine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Add thresholds so a single ping does not alert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Forward alerts to a SIEM such as Splunk, Elastic or Wazuh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Rebuild the HTTP rule on the HTTP inspection engine</a:t>
            </a:r>
            <a:endParaRPr lang="en-US" sz="1800" dirty="0"/>
          </a:p>
        </p:txBody>
      </p:sp>
      <p:sp>
        <p:nvSpPr>
          <p:cNvPr id="13" name="Outcome bar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Outcome text"/>
          <p:cNvSpPr txBox="1"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Outcome: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working Snort sensor, two validated custom rules and documented evidence, covering the preparation and detection stages of the incident lifecycle.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C Teal">
  <a:themeElements>
    <a:clrScheme name="SOC Teal">
      <a:dk1>
        <a:srgbClr val="1A2B33"/>
      </a:dk1>
      <a:lt1>
        <a:srgbClr val="FFFFFF"/>
      </a:lt1>
      <a:dk2>
        <a:srgbClr val="12404F"/>
      </a:dk2>
      <a:lt2>
        <a:srgbClr val="EAF1F3"/>
      </a:lt2>
      <a:accent1>
        <a:srgbClr val="1F6F83"/>
      </a:accent1>
      <a:accent2>
        <a:srgbClr val="F2A541"/>
      </a:accent2>
      <a:accent3>
        <a:srgbClr val="2E8B6E"/>
      </a:accent3>
      <a:accent4>
        <a:srgbClr val="C0504D"/>
      </a:accent4>
      <a:accent5>
        <a:srgbClr val="5B7C8D"/>
      </a:accent5>
      <a:accent6>
        <a:srgbClr val="8FB8C4"/>
      </a:accent6>
      <a:hlink>
        <a:srgbClr val="1F6F83"/>
      </a:hlink>
      <a:folHlink>
        <a:srgbClr val="5B7C8D"/>
      </a:folHlink>
    </a:clrScheme>
    <a:fontScheme name="SOC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9 - SOC Introduction &amp; Setup</dc:title>
  <dc:subject>PptxGenJS Presentation</dc:subject>
  <dc:creator>Md Mohtasim</dc:creator>
  <cp:lastModifiedBy>Md Mohtasim</cp:lastModifiedBy>
  <cp:revision>1</cp:revision>
  <dcterms:created xsi:type="dcterms:W3CDTF">2026-10-07T12:57:57Z</dcterms:created>
  <dcterms:modified xsi:type="dcterms:W3CDTF">2026-10-07T12:57:57Z</dcterms:modified>
</cp:coreProperties>
</file>